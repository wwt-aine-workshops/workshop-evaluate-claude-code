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avy_graphic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339EEE"/>
                </a:solidFill>
                <a:latin typeface="Arial"/>
              </a:rPr>
              <a:t>Claude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949440" cy="196596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Evaluate Claude Code on Your Own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583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Turn your merged pull requests into evidence, run a baseline, and decide what to expand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CCCCC"/>
                </a:solidFill>
                <a:latin typeface="Arial"/>
              </a:rPr>
              <a:t>Claude Code Adoption Bootcamps  ·  3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CCCCC"/>
                </a:solidFill>
                <a:latin typeface="Arial"/>
              </a:rPr>
              <a:t>Level: Intermediate  ·  Current as of 2 October 2026</a:t>
            </a:r>
          </a:p>
        </p:txBody>
      </p:sp>
      <p:pic>
        <p:nvPicPr>
          <p:cNvPr id="9" name="Picture 8" descr="logo_ww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35040"/>
            <a:ext cx="16459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What you will leave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Name what a Claude Code foundation has to prove, and set the success criteria before looking at any results.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Write evaluation cases from the foundation's target tasks, using pull requests the team already merged as the reference.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Run an isolated baseline with claude -p, each run in its own container on its own clone, and read the results by target task, including how consistent Claude Code is across repeat runs.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Decide, task by task, what is ready to expand, what needs a skill, a better brief or CLAUDE.md, or a tool, and what is out of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675120"/>
                <a:gridCol w="2316175"/>
              </a:tblGrid>
              <a:tr h="3771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>
                    <a:solidFill>
                      <a:srgbClr val="1C008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0:00–0:10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Welcome and room check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0:10–0:25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What the foundation has to prove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0:25–0:45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1: Choose target tasks and success criteria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Groups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0:45–1:15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2: Write cases from real work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Groups by task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1:15–1:25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1:25–1:40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3: Calibrate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Graders in pairs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1:40–2:15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4: Run the baseline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Demo, then groups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2:15–2:25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Break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2:25–2:40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Reading the result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2:40–2:55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Exercise 5: Decide and hand off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2:55–3:00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Readout and close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Plenary</a:t>
                      </a:r>
                    </a:p>
                  </a:txBody>
                  <a:tcPr marT="27432" marB="27432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What the foundation has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Evidence for one decision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Decide the evidence before you see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Name the decision the foundation supports, and who makes it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Two or three success measures, set before any result comes in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Targets set from the foundation's own week-1 figures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Skeptics among the early users as well as enthusiasts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Two kinds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Adoption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Are engineers using it on real work?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Daily active users and sessions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Pull requests with 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828800"/>
            <a:ext cx="18288" cy="4023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Quality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Is the change good enough to merge?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Is it good every time?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On the tasks that matter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Signals the analytics dashboard gives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743200"/>
                <a:gridCol w="438912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How to use it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Daily active users and sessions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Adoption chart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Target set from week 1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Pull requests with Claude Code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Contribution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Target set from week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Suggestion accept rate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Summary metrics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Watch the trend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Cost per developer per active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Spend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Benchmark: about $13 on average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Start evaluating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Twenty to fifty cases drawn from real work is a strong start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Evaluation sets get harder to build the longer you wait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In the foundation, most cases ask: can Claude Code do this yet?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Cases that pass reliably become the regression set for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Choose target tasks and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Exercise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Typical first target tasks for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Target task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Reference output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First grader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Bug fix from a Jira issue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merged fix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pull request's tests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Unit tests for changed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tests the team merged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They pass, and fail on the bug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Pull request review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review the team acted on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Reviewer judgment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Docs update from a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merged docs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Reviewer judgment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086EA"/>
                </a:solidFill>
                <a:latin typeface="Arial"/>
              </a:rPr>
              <a:t>Exercise 1: Choose target tasks and success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 minutes, in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List three to five target tasks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Write what 'good enough to merge' means for each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Set the pass rate, consistency bar, adoption, and cost targets from your week-1 figures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Record them before anyone looks at a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Target tasks and exit criteria on record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Write cases from real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Exercise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Anatomy of 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What goes in it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Request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Phrased the way an engineer would ask, often the issue text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Repository and commit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code as it was before the pull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Must include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What a good result has to contain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Must not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What a good result must avoid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Target task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kind of work the case belongs to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Reference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The merged pull request, and the tests it 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Weak output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 reverted, reworked, or rejected earlier change, where one exists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Two graders for a code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The pull request's tests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Fail before the fix, pass after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Existing tests still pass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Objective and repeatable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828800"/>
            <a:ext cx="18288" cy="4023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C0087"/>
                </a:solidFill>
                <a:latin typeface="Arial"/>
              </a:rPr>
              <a:t>Reviewer judgment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Scope: nothing unrelated changed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No changed contract or schema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000">
                <a:solidFill>
                  <a:srgbClr val="262626"/>
                </a:solidFill>
                <a:latin typeface="Arial"/>
              </a:rPr>
              <a:t>The bug removed, not hidden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0086EA"/>
                </a:solidFill>
                <a:latin typeface="Arial"/>
              </a:rPr>
              <a:t>Exercise 2: Write cases from real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24 minutes, by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Pick a merged pull request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Write the request the way an engineer would ask for it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Turn the pull request into Must include and Must not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Repeat for six to ten cases, including one that should start with a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Six to ten cases per group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Two experts, one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The standard: two domain experts, working separately, reach the same verdict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Grade the merged pull request, and the weak output where one exists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Where the tests decide, the verdict is already agreed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'Can't tell' is a finding, not a failure. It marks a case to rewrite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One expert present: the presenter grades second, and the case waits for a second expert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0086EA"/>
                </a:solidFill>
                <a:latin typeface="Arial"/>
              </a:rPr>
              <a:t>Exercise 3: Calibrate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 minutes, graders in 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Grade up to five cases each, on your own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Grade the merged pull request, and the weak output where one exists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Compare verdicts on the Calibration tab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Rewrite any case where the verdicts differ or anyone chose can't tell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Calibrated cases and an agreement rate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break_without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103120"/>
            <a:ext cx="9418320" cy="146304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Run the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1828800" cy="45720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Exercise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One isolated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816547" cy="1920240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Clone the case branch only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2931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9547" y="2377440"/>
            <a:ext cx="1816547" cy="1920240"/>
          </a:xfrm>
          <a:prstGeom prst="roundRect">
            <a:avLst/>
          </a:prstGeom>
          <a:solidFill>
            <a:srgbClr val="493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Own clone and container per run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0958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7574" y="2377440"/>
            <a:ext cx="1816547" cy="1920240"/>
          </a:xfrm>
          <a:prstGeom prst="roundRect">
            <a:avLst/>
          </a:prstGeom>
          <a:solidFill>
            <a:srgbClr val="162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claude -p with the eval-run settings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58985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15601" y="2377440"/>
            <a:ext cx="1816547" cy="1920240"/>
          </a:xfrm>
          <a:prstGeom prst="roundRect">
            <a:avLst/>
          </a:prstGeom>
          <a:solidFill>
            <a:srgbClr val="339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Copy in the pull request's tests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87012" y="3154680"/>
            <a:ext cx="301752" cy="365760"/>
          </a:xfrm>
          <a:prstGeom prst="rightArrow">
            <a:avLst/>
          </a:prstGeom>
          <a:solidFill>
            <a:srgbClr val="EE2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3628" y="2377440"/>
            <a:ext cx="1816547" cy="1920240"/>
          </a:xfrm>
          <a:prstGeom prst="round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Run the suite, read the 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C0087"/>
                </a:solidFill>
                <a:latin typeface="Arial"/>
              </a:rPr>
              <a:t>No skill needed: measure Claude Code as installed, with your repository's setup.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Passing once versus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Pass rate per run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All three of three runs pass (pass^3)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About 73%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About 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About 13%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0086EA"/>
                </a:solidFill>
                <a:latin typeface="Arial"/>
              </a:rPr>
              <a:t>Exercise 4: Run the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640080"/>
            <a:ext cx="2724912" cy="566928"/>
          </a:xfrm>
          <a:prstGeom prst="roundRect">
            <a:avLst/>
          </a:prstGeom>
          <a:solidFill>
            <a:srgbClr val="1C0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28 minutes, in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Take two cases each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Run each three times with run-case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Grade with the pull request's tests and the diff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Record every run on the Runs tab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AutoNum type="arabicPeriod"/>
            </a:pPr>
            <a:r>
              <a:rPr sz="2200">
                <a:solidFill>
                  <a:srgbClr val="262626"/>
                </a:solidFill>
                <a:latin typeface="Arial"/>
              </a:rPr>
              <a:t>Revoke the run credential afterwards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0728655" cy="731520"/>
          </a:xfrm>
          <a:prstGeom prst="rect">
            <a:avLst/>
          </a:prstGeom>
          <a:solidFill>
            <a:srgbClr val="E6F3FD"/>
          </a:solidFill>
          <a:ln w="12700">
            <a:solidFill>
              <a:srgbClr val="008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800">
                <a:solidFill>
                  <a:srgbClr val="1C0087"/>
                </a:solidFill>
                <a:latin typeface="Arial"/>
              </a:rPr>
              <a:t>You leave with:  </a:t>
            </a:r>
            <a:r>
              <a:rPr sz="1800">
                <a:solidFill>
                  <a:srgbClr val="262626"/>
                </a:solidFill>
                <a:latin typeface="Arial"/>
              </a:rPr>
              <a:t>A measured baseline, overall and by target task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From failure to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21208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What the failure shows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Likely fix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Context the engineer knew but did not give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Improve the brief, or add it to CLAUDE.md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A team standard Claude does not know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Build a 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Work Claude cannot reach: tracker, logs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Add a tool or an MCP server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Judgment Claude should not exercise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Out of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Before you call it a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Trace every file, function, and version in the output to the repository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Passing tests are necessary, not sufficient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A test changed so that it passes is how a bad fix gets through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A model can grade against calibrated criteria; check it against an expert first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Exercise 5: Decide and hand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4088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When it fits</a:t>
                      </a:r>
                    </a:p>
                  </a:txBody>
                  <a:tcPr anchor="ctr">
                    <a:solidFill>
                      <a:srgbClr val="1C00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Ready to expand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Passes the criteria, consistently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Build a skill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Fails on a team standard Claude does not know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Improve the brief or CLAUDE.md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Fails on context the engineer could have given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Add a tool or MCP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Fails because Claude cannot reach what the work needs: the tracker,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626"/>
                          </a:solidFill>
                          <a:latin typeface="Arial"/>
                        </a:rPr>
                        <a:t>Out of scope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626"/>
                          </a:solidFill>
                          <a:latin typeface="Arial"/>
                        </a:rPr>
                        <a:t>Needs judgment Claude should not exercise</a:t>
                      </a:r>
                    </a:p>
                  </a:txBody>
                  <a:tcPr anchor="ctr">
                    <a:solidFill>
                      <a:srgbClr val="E6F3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nogra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6217920"/>
            <a:ext cx="411480" cy="411480"/>
          </a:xfrm>
          <a:prstGeom prst="rect">
            <a:avLst/>
          </a:prstGeom>
        </p:spPr>
      </p:pic>
      <p:pic>
        <p:nvPicPr>
          <p:cNvPr id="4" name="Picture 3" descr="gradien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2280"/>
            <a:ext cx="12191695" cy="45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>
                <a:solidFill>
                  <a:srgbClr val="0086EA"/>
                </a:solidFill>
                <a:latin typeface="Arial"/>
              </a:rPr>
              <a:t>Readout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27432"/>
          </a:xfrm>
          <a:prstGeom prst="rect">
            <a:avLst/>
          </a:prstGeom>
          <a:solidFill>
            <a:srgbClr val="66B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286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Target tasks measured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Pass rate by task, and share of cases passing every run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Exit criteria met and not met</a:t>
            </a:r>
          </a:p>
          <a:p>
            <a:pPr algn="l" marL="320040" indent="-274320">
              <a:spcBef>
                <a:spcPts val="200"/>
              </a:spcBef>
              <a:spcAft>
                <a:spcPts val="800"/>
              </a:spcAft>
              <a:buChar char="•"/>
            </a:pPr>
            <a:r>
              <a:rPr sz="2400">
                <a:solidFill>
                  <a:srgbClr val="262626"/>
                </a:solidFill>
                <a:latin typeface="Arial"/>
              </a:rPr>
              <a:t>Decision and owner for each task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navy_graphic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6217920" cy="118872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9EEE"/>
                </a:solidFill>
                <a:latin typeface="Arial"/>
              </a:rPr>
              <a:t>What you built today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A foundation evaluation set built from merged pull requests, with a measured baseline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Success and exit criteria, measured where the evidence exists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A decision for each target task, with an owner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Arial"/>
              </a:rPr>
              <a:t>A regression set to carry into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39EEE"/>
                </a:solidFill>
                <a:latin typeface="Arial"/>
              </a:rPr>
              <a:t>Make a new world happen</a:t>
            </a:r>
          </a:p>
        </p:txBody>
      </p:sp>
      <p:pic>
        <p:nvPicPr>
          <p:cNvPr id="6" name="Picture 5" descr="logo_ww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35040"/>
            <a:ext cx="164592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