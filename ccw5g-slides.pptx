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avy_graphic_de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339EEE"/>
                </a:solidFill>
                <a:latin typeface="Arial"/>
              </a:rPr>
              <a:t>Claude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6949440" cy="1965960"/>
          </a:xfrm>
          <a:prstGeom prst="rect">
            <a:avLst/>
          </a:prstGeom>
          <a:noFill/>
        </p:spPr>
        <p:txBody>
          <a:bodyPr wrap="square" anchor="b"/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Evaluate Claude Code on Your Own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46120"/>
            <a:ext cx="1828800" cy="45720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65836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339EEE"/>
                </a:solidFill>
                <a:latin typeface="Arial"/>
              </a:rPr>
              <a:t>Turn your merged pull requests into evidence, run a baseline, and decide what to expand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CCCCCC"/>
                </a:solidFill>
                <a:latin typeface="Arial"/>
              </a:rPr>
              <a:t>Claude Code Adoption Bootcamps  ·  3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CCCCCC"/>
                </a:solidFill>
                <a:latin typeface="Arial"/>
              </a:rPr>
              <a:t>Level: Intermediate  ·  Current as of 2 October 2026</a:t>
            </a:r>
          </a:p>
        </p:txBody>
      </p:sp>
      <p:pic>
        <p:nvPicPr>
          <p:cNvPr id="9" name="Picture 8" descr="logo_ww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35040"/>
            <a:ext cx="16459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What you will leave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7286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Name what a Claude Code foundation has to prove, and set the success criteria before looking at any results.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Write evaluation cases from the foundation's target tasks, using pull requests the team already merged as the reference.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Run an isolated baseline with claude -p in fresh worktrees, and read the results by target task, including how consistent Claude Code is across repeat runs.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Decide, task by task, what is ready to expand, what needs a skill, a better brief or CLAUDE.md, or a tool, and what is out of scope.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675120"/>
                <a:gridCol w="2316175"/>
              </a:tblGrid>
              <a:tr h="37719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Time</a:t>
                      </a:r>
                    </a:p>
                  </a:txBody>
                  <a:tcPr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Segment</a:t>
                      </a:r>
                    </a:p>
                  </a:txBody>
                  <a:tcPr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Format</a:t>
                      </a:r>
                    </a:p>
                  </a:txBody>
                  <a:tcPr>
                    <a:solidFill>
                      <a:srgbClr val="1C0087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0:00–0:10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Welcome and room check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Plenary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0:10–0:25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What the foundation has to prove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Plenary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0:25–0:45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Exercise 1: Choose target tasks and success criteria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Groups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0:45–1:15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Exercise 2: Write cases from real work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Groups by task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1:15–1:25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Break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Break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1:25–1:40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Exercise 3: Calibrate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Graders in pairs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1:40–2:15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Exercise 4: Run the baseline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Demo, then groups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2:15–2:25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Break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Break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2:25–2:40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Reading the result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Plenary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2:40–2:55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Exercise 5: Decide and hand off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Plenary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2:55–3:00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Readout and close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Plenary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_break_without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103120"/>
            <a:ext cx="9418320" cy="1463040"/>
          </a:xfrm>
          <a:prstGeom prst="rect">
            <a:avLst/>
          </a:prstGeom>
          <a:noFill/>
        </p:spPr>
        <p:txBody>
          <a:bodyPr wrap="square" anchor="b"/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What the foundation has to 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749039"/>
            <a:ext cx="1828800" cy="45720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77639"/>
            <a:ext cx="9418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339EEE"/>
                </a:solidFill>
                <a:latin typeface="Arial"/>
              </a:rPr>
              <a:t>Evidence for one decision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Decide the evidence before you see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7286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Name the decision the foundation supports, and who makes it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Two or three success measures, set before any result comes in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Targets set from the foundation's own week-1 figures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Skeptics among the early users as well as enthusiasts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Two kinds of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b="1">
                <a:solidFill>
                  <a:srgbClr val="1C0087"/>
                </a:solidFill>
                <a:latin typeface="Arial"/>
              </a:rPr>
              <a:t>Adoption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Are engineers using it on real work?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Daily active users and sessions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Pull requests with Claude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59" y="1828800"/>
            <a:ext cx="18288" cy="40233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b="1">
                <a:solidFill>
                  <a:srgbClr val="1C0087"/>
                </a:solidFill>
                <a:latin typeface="Arial"/>
              </a:rPr>
              <a:t>Quality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Is the change good enough to merge?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Is it good every time?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On the tasks that matter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Signals the analytics dashboard gives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6984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2743200"/>
                <a:gridCol w="4389120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Signal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Where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How to use it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Daily active users and sessions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Adoption chart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Target set from week 1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Pull requests with Claude Code (%)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Contribution metrics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Target set from week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Suggestion accept rate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Summary metrics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Watch the trend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Cost per developer per active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Spend report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Benchmark: about $13 on average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Start evaluating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7286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Twenty to fifty cases drawn from real work is a strong start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Evaluation sets get harder to build the longer you wait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In the foundation, most cases ask: can Claude Code do this yet?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Cases that pass reliably become the regression set for expansion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_break_without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103120"/>
            <a:ext cx="9418320" cy="1463040"/>
          </a:xfrm>
          <a:prstGeom prst="rect">
            <a:avLst/>
          </a:prstGeom>
          <a:noFill/>
        </p:spPr>
        <p:txBody>
          <a:bodyPr wrap="square" anchor="b"/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Choose target tasks and success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749039"/>
            <a:ext cx="1828800" cy="45720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77639"/>
            <a:ext cx="9418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339EEE"/>
                </a:solidFill>
                <a:latin typeface="Arial"/>
              </a:rPr>
              <a:t>Exercise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Typical first target tasks for Claude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6984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Target task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Reference output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First grader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Bug fix from a closed issue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The merged fix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The pull request's tests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Unit tests for changed 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The tests the team merged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They pass, and fail on the bug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Pull request review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The review the team acted on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Reviewer judgment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Docs update from a change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The merged docs change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Reviewer judgment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863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086EA"/>
                </a:solidFill>
                <a:latin typeface="Arial"/>
              </a:rPr>
              <a:t>Exercise 1: Choose target tasks and success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32520" y="640080"/>
            <a:ext cx="2724912" cy="566928"/>
          </a:xfrm>
          <a:prstGeom prst="roundRect">
            <a:avLst/>
          </a:prstGeom>
          <a:solidFill>
            <a:srgbClr val="1C0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15 minutes, in groups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7286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List three to five target tasks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Write what 'good enough to merge' means for each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Set the pass rate, consistency bar, adoption, and cost targets from your week-1 figures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Record them before anyone looks at a result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74920"/>
            <a:ext cx="10728655" cy="731520"/>
          </a:xfrm>
          <a:prstGeom prst="rect">
            <a:avLst/>
          </a:prstGeom>
          <a:solidFill>
            <a:srgbClr val="E6F3FD"/>
          </a:solidFill>
          <a:ln w="12700">
            <a:solidFill>
              <a:srgbClr val="008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800">
                <a:solidFill>
                  <a:srgbClr val="1C0087"/>
                </a:solidFill>
                <a:latin typeface="Arial"/>
              </a:rPr>
              <a:t>You leave with:  </a:t>
            </a:r>
            <a:r>
              <a:rPr sz="1800">
                <a:solidFill>
                  <a:srgbClr val="262626"/>
                </a:solidFill>
                <a:latin typeface="Arial"/>
              </a:rPr>
              <a:t>Target tasks and exit criteria on record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_break_without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103120"/>
            <a:ext cx="9418320" cy="1463040"/>
          </a:xfrm>
          <a:prstGeom prst="rect">
            <a:avLst/>
          </a:prstGeom>
          <a:noFill/>
        </p:spPr>
        <p:txBody>
          <a:bodyPr wrap="square" anchor="b"/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Write cases from real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749039"/>
            <a:ext cx="1828800" cy="45720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77639"/>
            <a:ext cx="9418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339EEE"/>
                </a:solidFill>
                <a:latin typeface="Arial"/>
              </a:rPr>
              <a:t>Exercise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Anatomy of a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69848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772400"/>
              </a:tblGrid>
              <a:tr h="4389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What goes in it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Request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Phrased the way an engineer would ask, often the issue text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Repository and commit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The code as it was before the pull request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Must include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What a good result has to contain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Must not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What a good result must avoid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Target task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The kind of work the case belongs to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Reference output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The merged pull request, and the tests it added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Weak output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A reverted, reworked, or rejected earlier change, where one exists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Two graders for a code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b="1">
                <a:solidFill>
                  <a:srgbClr val="1C0087"/>
                </a:solidFill>
                <a:latin typeface="Arial"/>
              </a:rPr>
              <a:t>The pull request's tests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Fail before the fix, pass after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Existing tests still pass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Objective and repeatable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59" y="1828800"/>
            <a:ext cx="18288" cy="40233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b="1">
                <a:solidFill>
                  <a:srgbClr val="1C0087"/>
                </a:solidFill>
                <a:latin typeface="Arial"/>
              </a:rPr>
              <a:t>Reviewer judgment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Scope: nothing unrelated changed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No changed contract or schema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The bug removed, not hidden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863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0086EA"/>
                </a:solidFill>
                <a:latin typeface="Arial"/>
              </a:rPr>
              <a:t>Exercise 2: Write cases from real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32520" y="640080"/>
            <a:ext cx="2724912" cy="566928"/>
          </a:xfrm>
          <a:prstGeom prst="roundRect">
            <a:avLst/>
          </a:prstGeom>
          <a:solidFill>
            <a:srgbClr val="1C0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24 minutes, by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7286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Pick a merged pull request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Write the request the way an engineer would ask for it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Turn the pull request into Must include and Must not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Repeat for six to ten cases, including one that should start with a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74920"/>
            <a:ext cx="10728655" cy="731520"/>
          </a:xfrm>
          <a:prstGeom prst="rect">
            <a:avLst/>
          </a:prstGeom>
          <a:solidFill>
            <a:srgbClr val="E6F3FD"/>
          </a:solidFill>
          <a:ln w="12700">
            <a:solidFill>
              <a:srgbClr val="008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800">
                <a:solidFill>
                  <a:srgbClr val="1C0087"/>
                </a:solidFill>
                <a:latin typeface="Arial"/>
              </a:rPr>
              <a:t>You leave with:  </a:t>
            </a:r>
            <a:r>
              <a:rPr sz="1800">
                <a:solidFill>
                  <a:srgbClr val="262626"/>
                </a:solidFill>
                <a:latin typeface="Arial"/>
              </a:rPr>
              <a:t>Six to ten cases per group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Two experts, one verdict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7286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The standard: two domain experts, working separately, reach the same verdict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Grade the merged pull request, and the weak output where one exists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Where the tests decide, the verdict is already agreed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'Can't tell' is a finding, not a failure. It marks a case to rewrite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One expert present: the presenter grades second, and the case waits for a second expert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863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0086EA"/>
                </a:solidFill>
                <a:latin typeface="Arial"/>
              </a:rPr>
              <a:t>Exercise 3: Calibrate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32520" y="640080"/>
            <a:ext cx="2724912" cy="566928"/>
          </a:xfrm>
          <a:prstGeom prst="roundRect">
            <a:avLst/>
          </a:prstGeom>
          <a:solidFill>
            <a:srgbClr val="1C0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10 minutes, graders in 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7286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Grade up to five cases each, on your own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Grade the merged pull request, and the weak output where one exists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Compare verdicts on the Calibration tab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Rewrite any case where the verdicts differ or anyone chose can't tell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74920"/>
            <a:ext cx="10728655" cy="731520"/>
          </a:xfrm>
          <a:prstGeom prst="rect">
            <a:avLst/>
          </a:prstGeom>
          <a:solidFill>
            <a:srgbClr val="E6F3FD"/>
          </a:solidFill>
          <a:ln w="12700">
            <a:solidFill>
              <a:srgbClr val="008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800">
                <a:solidFill>
                  <a:srgbClr val="1C0087"/>
                </a:solidFill>
                <a:latin typeface="Arial"/>
              </a:rPr>
              <a:t>You leave with:  </a:t>
            </a:r>
            <a:r>
              <a:rPr sz="1800">
                <a:solidFill>
                  <a:srgbClr val="262626"/>
                </a:solidFill>
                <a:latin typeface="Arial"/>
              </a:rPr>
              <a:t>Calibrated cases and an agreement rate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_break_without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103120"/>
            <a:ext cx="9418320" cy="1463040"/>
          </a:xfrm>
          <a:prstGeom prst="rect">
            <a:avLst/>
          </a:prstGeom>
          <a:noFill/>
        </p:spPr>
        <p:txBody>
          <a:bodyPr wrap="square" anchor="b"/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Run the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749039"/>
            <a:ext cx="1828800" cy="45720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77639"/>
            <a:ext cx="9418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339EEE"/>
                </a:solidFill>
                <a:latin typeface="Arial"/>
              </a:rPr>
              <a:t>Exercise 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One isolated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816547" cy="1920240"/>
          </a:xfrm>
          <a:prstGeom prst="roundRect">
            <a:avLst/>
          </a:prstGeom>
          <a:solidFill>
            <a:srgbClr val="1C0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Clone the case branch only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02931" y="3154680"/>
            <a:ext cx="301752" cy="365760"/>
          </a:xfrm>
          <a:prstGeom prst="rightArrow">
            <a:avLst/>
          </a:prstGeom>
          <a:solidFill>
            <a:srgbClr val="EE2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59547" y="2377440"/>
            <a:ext cx="1816547" cy="1920240"/>
          </a:xfrm>
          <a:prstGeom prst="roundRect">
            <a:avLst/>
          </a:prstGeom>
          <a:solidFill>
            <a:srgbClr val="493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Fresh worktree per run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30958" y="3154680"/>
            <a:ext cx="301752" cy="365760"/>
          </a:xfrm>
          <a:prstGeom prst="rightArrow">
            <a:avLst/>
          </a:prstGeom>
          <a:solidFill>
            <a:srgbClr val="EE2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87574" y="2377440"/>
            <a:ext cx="1816547" cy="1920240"/>
          </a:xfrm>
          <a:prstGeom prst="roundRect">
            <a:avLst/>
          </a:prstGeom>
          <a:solidFill>
            <a:srgbClr val="162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claude -p with the eval-run settings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58985" y="3154680"/>
            <a:ext cx="301752" cy="365760"/>
          </a:xfrm>
          <a:prstGeom prst="rightArrow">
            <a:avLst/>
          </a:prstGeom>
          <a:solidFill>
            <a:srgbClr val="EE2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15601" y="2377440"/>
            <a:ext cx="1816547" cy="1920240"/>
          </a:xfrm>
          <a:prstGeom prst="roundRect">
            <a:avLst/>
          </a:prstGeom>
          <a:solidFill>
            <a:srgbClr val="339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Copy in the pull request's tests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287012" y="3154680"/>
            <a:ext cx="301752" cy="365760"/>
          </a:xfrm>
          <a:prstGeom prst="rightArrow">
            <a:avLst/>
          </a:prstGeom>
          <a:solidFill>
            <a:srgbClr val="EE2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43628" y="2377440"/>
            <a:ext cx="1816547" cy="1920240"/>
          </a:xfrm>
          <a:prstGeom prst="round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Run the suite, read the diff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C0087"/>
                </a:solidFill>
                <a:latin typeface="Arial"/>
              </a:rPr>
              <a:t>No skill needed: measure Claude Code as your engineers have it today.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Passing once versus every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Pass rate per run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All three of three runs pass (pass^3)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About 73%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About 42%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About 13%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863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0086EA"/>
                </a:solidFill>
                <a:latin typeface="Arial"/>
              </a:rPr>
              <a:t>Exercise 4: Run the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32520" y="640080"/>
            <a:ext cx="2724912" cy="566928"/>
          </a:xfrm>
          <a:prstGeom prst="roundRect">
            <a:avLst/>
          </a:prstGeom>
          <a:solidFill>
            <a:srgbClr val="1C0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28 minutes, in groups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7286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Take two cases each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Run each three times with run-case.sh, or by hand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Grade with the pull request's tests and the diff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Record every run on the Runs tab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Remove each worktree once graded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74920"/>
            <a:ext cx="10728655" cy="731520"/>
          </a:xfrm>
          <a:prstGeom prst="rect">
            <a:avLst/>
          </a:prstGeom>
          <a:solidFill>
            <a:srgbClr val="E6F3FD"/>
          </a:solidFill>
          <a:ln w="12700">
            <a:solidFill>
              <a:srgbClr val="008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800">
                <a:solidFill>
                  <a:srgbClr val="1C0087"/>
                </a:solidFill>
                <a:latin typeface="Arial"/>
              </a:rPr>
              <a:t>You leave with:  </a:t>
            </a:r>
            <a:r>
              <a:rPr sz="1800">
                <a:solidFill>
                  <a:srgbClr val="262626"/>
                </a:solidFill>
                <a:latin typeface="Arial"/>
              </a:rPr>
              <a:t>A measured baseline, overall and by target task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From failure to fix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6984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212080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What the failure shows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Likely fix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Context the engineer knew but did not give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Improve the brief, or add it to CLAUDE.md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A team standard Claude does not know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Build a skill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Work Claude cannot reach: tracker, logs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Add a tool or an MCP server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Judgment Claude should not exercise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Out of scope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Before you call it a 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7286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Trace every file, function, and version in the output to the repository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Passing tests are necessary, not sufficient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A test changed so that it passes is how a bad fix gets through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A model can grade against calibrated criteria; check it against an expert first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Exercise 5: Decide and hand 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6984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040880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When it fits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Ready to expand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Passes the criteria, consistently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Build a skill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Fails on a team standard Claude does not know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Improve the brief or CLAUDE.md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Fails on context the engineer could have given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Add a tool or MCP server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Fails because Claude cannot reach what the work needs: the tracker, logs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Out of scope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Needs judgment Claude should not exercise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Readout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7286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Target tasks measured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Pass rate by task, and share of cases passing every run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Exit criteria met and not met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Decision and owner for each task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avy_graphic_de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737360"/>
            <a:ext cx="6217920" cy="1188720"/>
          </a:xfrm>
          <a:prstGeom prst="rect">
            <a:avLst/>
          </a:prstGeom>
          <a:noFill/>
        </p:spPr>
        <p:txBody>
          <a:bodyPr wrap="square" anchor="b"/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7863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9EEE"/>
                </a:solidFill>
                <a:latin typeface="Arial"/>
              </a:rPr>
              <a:t>What you built today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  <a:latin typeface="Arial"/>
              </a:rPr>
              <a:t>A foundation evaluation set built from merged pull requests, with a measured baseline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  <a:latin typeface="Arial"/>
              </a:rPr>
              <a:t>Success and exit criteria, measured where the evidence exists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  <a:latin typeface="Arial"/>
              </a:rPr>
              <a:t>A decision for each target task, with an owner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  <a:latin typeface="Arial"/>
              </a:rPr>
              <a:t>A regression set to carry into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49240"/>
            <a:ext cx="10698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339EEE"/>
                </a:solidFill>
                <a:latin typeface="Arial"/>
              </a:rPr>
              <a:t>Make a new world happen</a:t>
            </a:r>
          </a:p>
        </p:txBody>
      </p:sp>
      <p:pic>
        <p:nvPicPr>
          <p:cNvPr id="6" name="Picture 5" descr="logo_ww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35040"/>
            <a:ext cx="164592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